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rts.ac.uk/summer-shows-events/summer-school" TargetMode="External"/><Relationship Id="rId3" Type="http://schemas.openxmlformats.org/officeDocument/2006/relationships/hyperlink" Target="https://www.rca.ac.uk/study/summer-courses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73152"/>
            <a:ext cx="292608" cy="237744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"/>
            <a:ext cx="292608" cy="237744"/>
          </a:xfrm>
          <a:prstGeom prst="rect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73152"/>
            <a:ext cx="292608" cy="237744"/>
          </a:xfrm>
          <a:prstGeom prst="rect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54864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AFAF8"/>
                </a:solidFill>
                <a:latin typeface="Futura"/>
              </a:defRPr>
            </a:pPr>
            <a:r>
              <a:t>01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384048"/>
            <a:ext cx="2011680" cy="6492240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11680" y="5120640"/>
            <a:ext cx="2743200" cy="1737360"/>
          </a:xfrm>
          <a:prstGeom prst="rect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0058400" y="731520"/>
            <a:ext cx="1828800" cy="1828800"/>
          </a:xfrm>
          <a:prstGeom prst="ellipse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1920240"/>
            <a:ext cx="813816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181818"/>
                </a:solidFill>
                <a:latin typeface="Futura"/>
              </a:defRPr>
            </a:pPr>
            <a:r>
              <a:t>Finding Direction Through Exploration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31720" y="4206240"/>
            <a:ext cx="777240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181818"/>
                </a:solidFill>
                <a:latin typeface="Arial"/>
              </a:defRPr>
            </a:pPr>
            <a:r>
              <a:t>Name: Tianyi Mao</a:t>
            </a:r>
          </a:p>
          <a:p>
            <a:pPr>
              <a:defRPr sz="1800" b="0">
                <a:solidFill>
                  <a:srgbClr val="181818"/>
                </a:solidFill>
                <a:latin typeface="Arial"/>
              </a:defRPr>
            </a:pPr>
            <a:r>
              <a:t>Programme: MA Design Expanded Practice</a:t>
            </a:r>
          </a:p>
          <a:p>
            <a:pPr>
              <a:defRPr sz="1800" b="0">
                <a:solidFill>
                  <a:srgbClr val="181818"/>
                </a:solidFill>
                <a:latin typeface="Arial"/>
              </a:defRPr>
            </a:pPr>
            <a:r>
              <a:t>Pathway: Communication &amp; Experience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73152"/>
            <a:ext cx="292608" cy="237744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"/>
            <a:ext cx="292608" cy="237744"/>
          </a:xfrm>
          <a:prstGeom prst="rect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73152"/>
            <a:ext cx="292608" cy="237744"/>
          </a:xfrm>
          <a:prstGeom prst="rect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54864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AFAF8"/>
                </a:solidFill>
                <a:latin typeface="Futura"/>
              </a:defRPr>
            </a:pPr>
            <a: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85800"/>
            <a:ext cx="107899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81818"/>
                </a:solidFill>
                <a:latin typeface="Futura"/>
              </a:defRPr>
            </a:pPr>
            <a:r>
              <a:t>Page 2 Introduction 引言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36192"/>
            <a:ext cx="2926080" cy="82296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75520" y="5029200"/>
            <a:ext cx="1097280" cy="1097280"/>
          </a:xfrm>
          <a:prstGeom prst="ellipse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0" y="4389120"/>
            <a:ext cx="1463040" cy="1463040"/>
          </a:xfrm>
          <a:prstGeom prst="ellipse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69680" y="5760720"/>
            <a:ext cx="1828800" cy="228600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2024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263BE"/>
                </a:solidFill>
                <a:latin typeface="Futura"/>
              </a:defRPr>
            </a:pPr>
            <a:r>
              <a:t>My core goals for the Extended Study are: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304288"/>
            <a:ext cx="1033272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81818"/>
                </a:solidFill>
                <a:latin typeface="Arial"/>
              </a:defRPr>
            </a:pPr>
            <a:r>
              <a:t>• To better use AI tools for creative design practice.</a:t>
            </a:r>
          </a:p>
          <a:p>
            <a:pPr>
              <a:spcAft>
                <a:spcPts val="600"/>
              </a:spcAft>
              <a:defRPr sz="2000">
                <a:solidFill>
                  <a:srgbClr val="181818"/>
                </a:solidFill>
                <a:latin typeface="Arial"/>
              </a:defRPr>
            </a:pPr>
            <a:r>
              <a:t>• To find my true passion and professional direction.</a:t>
            </a:r>
          </a:p>
          <a:p>
            <a:pPr>
              <a:spcAft>
                <a:spcPts val="600"/>
              </a:spcAft>
              <a:defRPr sz="2000">
                <a:solidFill>
                  <a:srgbClr val="181818"/>
                </a:solidFill>
                <a:latin typeface="Arial"/>
              </a:defRPr>
            </a:pPr>
            <a:r>
              <a:t>• To gain real work experience in creative industries.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73152"/>
            <a:ext cx="292608" cy="237744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"/>
            <a:ext cx="292608" cy="237744"/>
          </a:xfrm>
          <a:prstGeom prst="rect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73152"/>
            <a:ext cx="292608" cy="237744"/>
          </a:xfrm>
          <a:prstGeom prst="rect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54864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AFAF8"/>
                </a:solidFill>
                <a:latin typeface="Futura"/>
              </a:defRPr>
            </a:pPr>
            <a: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85800"/>
            <a:ext cx="107899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81818"/>
                </a:solidFill>
                <a:latin typeface="Futura"/>
              </a:defRPr>
            </a:pPr>
            <a:r>
              <a:t>Page 3 Past Practice 过往实践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36192"/>
            <a:ext cx="2926080" cy="82296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75520" y="5029200"/>
            <a:ext cx="1097280" cy="1097280"/>
          </a:xfrm>
          <a:prstGeom prst="ellipse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0" y="4389120"/>
            <a:ext cx="1463040" cy="1463040"/>
          </a:xfrm>
          <a:prstGeom prst="ellipse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69680" y="5760720"/>
            <a:ext cx="1828800" cy="228600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2011680"/>
            <a:ext cx="5394960" cy="4206240"/>
          </a:xfrm>
          <a:prstGeom prst="rect">
            <a:avLst/>
          </a:prstGeom>
          <a:solidFill>
            <a:srgbClr val="F2F2EE"/>
          </a:solidFill>
          <a:ln>
            <a:solidFill>
              <a:srgbClr val="18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2011680"/>
            <a:ext cx="5257800" cy="4206240"/>
          </a:xfrm>
          <a:prstGeom prst="rect">
            <a:avLst/>
          </a:prstGeom>
          <a:solidFill>
            <a:srgbClr val="F2F2EE"/>
          </a:solidFill>
          <a:ln>
            <a:solidFill>
              <a:srgbClr val="18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19456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DC3030"/>
                </a:solidFill>
                <a:latin typeface="Futura"/>
              </a:defRPr>
            </a:pPr>
            <a:r>
              <a:t>Strengths &amp; Skills / Previous Projects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2697480"/>
            <a:ext cx="475488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1818"/>
                </a:solidFill>
                <a:latin typeface="Arial"/>
              </a:defRPr>
            </a:pPr>
            <a:r>
              <a:t>• Photography</a:t>
            </a:r>
          </a:p>
          <a:p>
            <a:pPr>
              <a:defRPr sz="1800">
                <a:solidFill>
                  <a:srgbClr val="181818"/>
                </a:solidFill>
                <a:latin typeface="Arial"/>
              </a:defRPr>
            </a:pPr>
            <a:r>
              <a:t>• Video editing</a:t>
            </a:r>
          </a:p>
          <a:p>
            <a:pPr>
              <a:defRPr sz="1800">
                <a:solidFill>
                  <a:srgbClr val="181818"/>
                </a:solidFill>
                <a:latin typeface="Arial"/>
              </a:defRPr>
            </a:pPr>
            <a:r>
              <a:t>• AI creative tools</a:t>
            </a:r>
          </a:p>
          <a:p>
            <a:pPr>
              <a:defRPr sz="1800">
                <a:solidFill>
                  <a:srgbClr val="181818"/>
                </a:solidFill>
                <a:latin typeface="Arial"/>
              </a:defRPr>
            </a:pPr>
            <a:r>
              <a:t>• Software proficiency</a:t>
            </a:r>
          </a:p>
          <a:p>
            <a:pPr>
              <a:defRPr sz="1800">
                <a:solidFill>
                  <a:srgbClr val="181818"/>
                </a:solidFill>
                <a:latin typeface="Arial"/>
              </a:defRPr>
            </a:pPr>
            <a:r>
              <a:t>• MA project: Critical video work about social media culture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2194560"/>
            <a:ext cx="4572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263BE"/>
                </a:solidFill>
                <a:latin typeface="Futura"/>
              </a:defRPr>
            </a:pPr>
            <a:r>
              <a:t>Interests / Audience / Networks / Avoid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697480"/>
            <a:ext cx="4754880" cy="3474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181818"/>
                </a:solidFill>
                <a:latin typeface="Arial"/>
              </a:defRPr>
            </a:pPr>
            <a:r>
              <a:t>• Interests: Mental health, social media, self-discipline</a:t>
            </a:r>
          </a:p>
          <a:p>
            <a:pPr>
              <a:defRPr sz="1800">
                <a:solidFill>
                  <a:srgbClr val="181818"/>
                </a:solidFill>
                <a:latin typeface="Arial"/>
              </a:defRPr>
            </a:pPr>
            <a:r>
              <a:t>• Audience: Young social media users (Generation Z, millennials)</a:t>
            </a:r>
          </a:p>
          <a:p>
            <a:pPr>
              <a:defRPr sz="1800">
                <a:solidFill>
                  <a:srgbClr val="181818"/>
                </a:solidFill>
                <a:latin typeface="Arial"/>
              </a:defRPr>
            </a:pPr>
            <a:r>
              <a:t>• Networks: Social media platforms, photography studios</a:t>
            </a:r>
          </a:p>
          <a:p>
            <a:pPr>
              <a:defRPr sz="1800">
                <a:solidFill>
                  <a:srgbClr val="181818"/>
                </a:solidFill>
                <a:latin typeface="Arial"/>
              </a:defRPr>
            </a:pPr>
            <a:r>
              <a:t>• Avoid repetitive mechanical commercial design</a:t>
            </a:r>
          </a:p>
          <a:p>
            <a:pPr>
              <a:defRPr sz="1800">
                <a:solidFill>
                  <a:srgbClr val="181818"/>
                </a:solidFill>
                <a:latin typeface="Arial"/>
              </a:defRPr>
            </a:pPr>
            <a:r>
              <a:t>• Avoid overly abstract or ungrounded experimental design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73152"/>
            <a:ext cx="292608" cy="237744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"/>
            <a:ext cx="292608" cy="237744"/>
          </a:xfrm>
          <a:prstGeom prst="rect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73152"/>
            <a:ext cx="292608" cy="237744"/>
          </a:xfrm>
          <a:prstGeom prst="rect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54864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AFAF8"/>
                </a:solidFill>
                <a:latin typeface="Futura"/>
              </a:defRPr>
            </a:pPr>
            <a: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85800"/>
            <a:ext cx="107899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81818"/>
                </a:solidFill>
                <a:latin typeface="Futura"/>
              </a:defRPr>
            </a:pPr>
            <a:r>
              <a:t>Page 4 Future Goals 未来目标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36192"/>
            <a:ext cx="2926080" cy="82296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75520" y="5029200"/>
            <a:ext cx="1097280" cy="1097280"/>
          </a:xfrm>
          <a:prstGeom prst="ellipse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0" y="4389120"/>
            <a:ext cx="1463040" cy="1463040"/>
          </a:xfrm>
          <a:prstGeom prst="ellipse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69680" y="5760720"/>
            <a:ext cx="1828800" cy="228600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2024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263BE"/>
                </a:solidFill>
                <a:latin typeface="Futura"/>
              </a:defRPr>
            </a:pPr>
            <a:r>
              <a:t>Long-term goal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304288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81818"/>
                </a:solidFill>
                <a:latin typeface="Arial"/>
              </a:defRPr>
            </a:pPr>
            <a:r>
              <a:t>• Work in design or AI operation roles in China.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98648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263BE"/>
                </a:solidFill>
                <a:latin typeface="Futura"/>
              </a:defRPr>
            </a:pPr>
            <a:r>
              <a:t>Skills to develop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282696"/>
            <a:ext cx="1033272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81818"/>
                </a:solidFill>
                <a:latin typeface="Arial"/>
              </a:defRPr>
            </a:pPr>
            <a:r>
              <a:t>• Comprehensive use of AI tools</a:t>
            </a:r>
          </a:p>
          <a:p>
            <a:pPr>
              <a:spcAft>
                <a:spcPts val="600"/>
              </a:spcAft>
              <a:defRPr sz="2000">
                <a:solidFill>
                  <a:srgbClr val="181818"/>
                </a:solidFill>
                <a:latin typeface="Arial"/>
              </a:defRPr>
            </a:pPr>
            <a:r>
              <a:t>• Photography &amp; video editing</a:t>
            </a:r>
          </a:p>
          <a:p>
            <a:pPr>
              <a:spcAft>
                <a:spcPts val="600"/>
              </a:spcAft>
              <a:defRPr sz="2000">
                <a:solidFill>
                  <a:srgbClr val="181818"/>
                </a:solidFill>
                <a:latin typeface="Arial"/>
              </a:defRPr>
            </a:pPr>
            <a:r>
              <a:t>• Project execution &amp; teamwork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700016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263BE"/>
                </a:solidFill>
                <a:latin typeface="Futura"/>
              </a:defRPr>
            </a:pPr>
            <a:r>
              <a:t>Expected outcomes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084064"/>
            <a:ext cx="1033272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81818"/>
                </a:solidFill>
                <a:latin typeface="Arial"/>
              </a:defRPr>
            </a:pPr>
            <a:r>
              <a:t>• Professional work experience</a:t>
            </a:r>
          </a:p>
          <a:p>
            <a:pPr>
              <a:spcAft>
                <a:spcPts val="600"/>
              </a:spcAft>
              <a:defRPr sz="2000">
                <a:solidFill>
                  <a:srgbClr val="181818"/>
                </a:solidFill>
                <a:latin typeface="Arial"/>
              </a:defRPr>
            </a:pPr>
            <a:r>
              <a:t>• Industry network</a:t>
            </a:r>
          </a:p>
          <a:p>
            <a:pPr>
              <a:spcAft>
                <a:spcPts val="600"/>
              </a:spcAft>
              <a:defRPr sz="2000">
                <a:solidFill>
                  <a:srgbClr val="181818"/>
                </a:solidFill>
                <a:latin typeface="Arial"/>
              </a:defRPr>
            </a:pPr>
            <a:r>
              <a:t>• Stronger portfolio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73152"/>
            <a:ext cx="292608" cy="237744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"/>
            <a:ext cx="292608" cy="237744"/>
          </a:xfrm>
          <a:prstGeom prst="rect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73152"/>
            <a:ext cx="292608" cy="237744"/>
          </a:xfrm>
          <a:prstGeom prst="rect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54864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AFAF8"/>
                </a:solidFill>
                <a:latin typeface="Futura"/>
              </a:defRPr>
            </a:pPr>
            <a: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85800"/>
            <a:ext cx="107899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81818"/>
                </a:solidFill>
                <a:latin typeface="Futura"/>
              </a:defRPr>
            </a:pPr>
            <a:r>
              <a:t>Page 5 Activity Options 实践选项（含真实夏校链接）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36192"/>
            <a:ext cx="2926080" cy="82296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75520" y="5029200"/>
            <a:ext cx="1097280" cy="1097280"/>
          </a:xfrm>
          <a:prstGeom prst="ellipse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0" y="4389120"/>
            <a:ext cx="1463040" cy="1463040"/>
          </a:xfrm>
          <a:prstGeom prst="ellipse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69680" y="5760720"/>
            <a:ext cx="1828800" cy="228600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2024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263BE"/>
                </a:solidFill>
                <a:latin typeface="Futura"/>
              </a:defRPr>
            </a:pPr>
            <a:r>
              <a:t>1. Preferred: AI Design Internship (UK)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304288"/>
            <a:ext cx="1033272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81818"/>
                </a:solidFill>
                <a:latin typeface="Arial"/>
              </a:defRPr>
            </a:pPr>
            <a:r>
              <a:t>• Type: Internship at UK design companies using AI for creative work</a:t>
            </a:r>
          </a:p>
          <a:p>
            <a:pPr>
              <a:spcAft>
                <a:spcPts val="600"/>
              </a:spcAft>
              <a:defRPr sz="2000">
                <a:solidFill>
                  <a:srgbClr val="181818"/>
                </a:solidFill>
                <a:latin typeface="Arial"/>
              </a:defRPr>
            </a:pPr>
            <a:r>
              <a:t>• Purpose: Learn to use AI tools efficiently in real commercial projects</a:t>
            </a:r>
          </a:p>
          <a:p>
            <a:pPr>
              <a:spcAft>
                <a:spcPts val="600"/>
              </a:spcAft>
              <a:defRPr sz="2000">
                <a:solidFill>
                  <a:srgbClr val="181818"/>
                </a:solidFill>
                <a:latin typeface="Arial"/>
              </a:defRPr>
            </a:pPr>
            <a:r>
              <a:t>• Reason: Best fit for my future career in China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721608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263BE"/>
                </a:solidFill>
                <a:latin typeface="Futura"/>
              </a:defRPr>
            </a:pPr>
            <a:r>
              <a:t>2. UAL / RCA Summer School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105656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97280" y="43434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3263BE"/>
                </a:solidFill>
                <a:latin typeface="Arial"/>
                <a:hlinkClick r:id="rId2"/>
              </a:rPr>
              <a:t>UAL Summer School: https://www.arts.ac.uk/summer-shows-events/summer-school</a:t>
            </a:r>
          </a:p>
          <a:p>
            <a:r>
              <a:rPr sz="1600">
                <a:solidFill>
                  <a:srgbClr val="3263BE"/>
                </a:solidFill>
                <a:latin typeface="Arial"/>
                <a:hlinkClick r:id="rId3"/>
              </a:rPr>
              <a:t>RCA Summer School: https://www.rca.ac.uk/study/summer-courses/</a:t>
            </a:r>
          </a:p>
          <a:p>
            <a:pPr>
              <a:defRPr sz="2000" b="1">
                <a:solidFill>
                  <a:srgbClr val="DC3030"/>
                </a:solidFill>
                <a:latin typeface="Futura"/>
              </a:defRPr>
            </a:pPr>
            <a:r>
              <a:t>3. Alternative: Creative Studio Internship (London)</a:t>
            </a:r>
          </a:p>
          <a:p>
            <a:pPr>
              <a:defRPr sz="1700">
                <a:solidFill>
                  <a:srgbClr val="181818"/>
                </a:solidFill>
                <a:latin typeface="Arial"/>
              </a:defRPr>
            </a:pPr>
            <a:r>
              <a:t>• 3D printing / architectural design studio</a:t>
            </a:r>
          </a:p>
          <a:p>
            <a:pPr>
              <a:defRPr sz="1700">
                <a:solidFill>
                  <a:srgbClr val="181818"/>
                </a:solidFill>
                <a:latin typeface="Arial"/>
              </a:defRPr>
            </a:pPr>
            <a:r>
              <a:t>• Gain hands-on making &amp; spatial design experience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73152"/>
            <a:ext cx="292608" cy="237744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"/>
            <a:ext cx="292608" cy="237744"/>
          </a:xfrm>
          <a:prstGeom prst="rect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73152"/>
            <a:ext cx="292608" cy="237744"/>
          </a:xfrm>
          <a:prstGeom prst="rect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54864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AFAF8"/>
                </a:solidFill>
                <a:latin typeface="Futura"/>
              </a:defRPr>
            </a:pPr>
            <a: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85800"/>
            <a:ext cx="107899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81818"/>
                </a:solidFill>
                <a:latin typeface="Futura"/>
              </a:defRPr>
            </a:pPr>
            <a:r>
              <a:t>Page 6 Timeline 时间线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36192"/>
            <a:ext cx="2926080" cy="82296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3291840"/>
            <a:ext cx="10058400" cy="73152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103120" y="2971800"/>
            <a:ext cx="640080" cy="640080"/>
          </a:xfrm>
          <a:prstGeom prst="ellipse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858000" y="2971800"/>
            <a:ext cx="640080" cy="640080"/>
          </a:xfrm>
          <a:prstGeom prst="ellipse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1783080"/>
            <a:ext cx="402336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DC3030"/>
                </a:solidFill>
                <a:latin typeface="Futura"/>
              </a:defRPr>
            </a:pPr>
            <a:r>
              <a:t>April – June</a:t>
            </a:r>
          </a:p>
          <a:p>
            <a:pPr>
              <a:defRPr sz="1600">
                <a:latin typeface="Arial"/>
              </a:defRPr>
            </a:pPr>
            <a:r>
              <a:t>• Complete university coursework</a:t>
            </a:r>
          </a:p>
          <a:p>
            <a:pPr>
              <a:defRPr sz="1600">
                <a:latin typeface="Arial"/>
              </a:defRPr>
            </a:pPr>
            <a:r>
              <a:t>• Prepare CV &amp; portfolio</a:t>
            </a:r>
          </a:p>
          <a:p>
            <a:pPr>
              <a:defRPr sz="1600">
                <a:latin typeface="Arial"/>
              </a:defRPr>
            </a:pPr>
            <a:r>
              <a:t>• Apply for internships &amp; summer schools</a:t>
            </a:r>
          </a:p>
          <a:p>
            <a:pPr>
              <a:defRPr sz="1600">
                <a:latin typeface="Arial"/>
              </a:defRPr>
            </a:pPr>
            <a:r>
              <a:t>• Attend interviews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160" y="3611880"/>
            <a:ext cx="4754880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3263BE"/>
                </a:solidFill>
                <a:latin typeface="Futura"/>
              </a:defRPr>
            </a:pPr>
            <a:r>
              <a:t>July – September</a:t>
            </a:r>
          </a:p>
          <a:p>
            <a:pPr>
              <a:defRPr sz="1600">
                <a:latin typeface="Arial"/>
              </a:defRPr>
            </a:pPr>
            <a:r>
              <a:t>• Start internship / summer school</a:t>
            </a:r>
          </a:p>
          <a:p>
            <a:pPr>
              <a:defRPr sz="1600">
                <a:latin typeface="Arial"/>
              </a:defRPr>
            </a:pPr>
            <a:r>
              <a:t>• Continue part-time photography &amp; editing work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73152"/>
            <a:ext cx="292608" cy="237744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"/>
            <a:ext cx="292608" cy="237744"/>
          </a:xfrm>
          <a:prstGeom prst="rect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73152"/>
            <a:ext cx="292608" cy="237744"/>
          </a:xfrm>
          <a:prstGeom prst="rect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54864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AFAF8"/>
                </a:solidFill>
                <a:latin typeface="Futura"/>
              </a:defRPr>
            </a:pPr>
            <a: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85800"/>
            <a:ext cx="107899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81818"/>
                </a:solidFill>
                <a:latin typeface="Futura"/>
              </a:defRPr>
            </a:pPr>
            <a:r>
              <a:t>Page 7 Feasibility &amp; Preparation 可行性与准备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36192"/>
            <a:ext cx="2926080" cy="82296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875520" y="5029200"/>
            <a:ext cx="1097280" cy="1097280"/>
          </a:xfrm>
          <a:prstGeom prst="ellipse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515600" y="4389120"/>
            <a:ext cx="1463040" cy="1463040"/>
          </a:xfrm>
          <a:prstGeom prst="ellipse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69680" y="5760720"/>
            <a:ext cx="1828800" cy="228600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2024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263BE"/>
                </a:solidFill>
                <a:latin typeface="Futura"/>
              </a:defRPr>
            </a:pPr>
            <a:r>
              <a:t>Feasibility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2304288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81818"/>
                </a:solidFill>
                <a:latin typeface="Arial"/>
              </a:defRPr>
            </a:pPr>
            <a:r>
              <a:t>• Location: London (feasible for international student visa)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898648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263BE"/>
                </a:solidFill>
                <a:latin typeface="Futura"/>
              </a:defRPr>
            </a:pPr>
            <a:r>
              <a:t>Preparation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3282696"/>
            <a:ext cx="10332720" cy="1325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81818"/>
                </a:solidFill>
                <a:latin typeface="Arial"/>
              </a:defRPr>
            </a:pPr>
            <a:r>
              <a:t>• Update portfolio</a:t>
            </a:r>
          </a:p>
          <a:p>
            <a:pPr>
              <a:spcAft>
                <a:spcPts val="600"/>
              </a:spcAft>
              <a:defRPr sz="2000">
                <a:solidFill>
                  <a:srgbClr val="181818"/>
                </a:solidFill>
                <a:latin typeface="Arial"/>
              </a:defRPr>
            </a:pPr>
            <a:r>
              <a:t>• Write application emails</a:t>
            </a:r>
          </a:p>
          <a:p>
            <a:pPr>
              <a:spcAft>
                <a:spcPts val="600"/>
              </a:spcAft>
              <a:defRPr sz="2000">
                <a:solidFill>
                  <a:srgbClr val="181818"/>
                </a:solidFill>
                <a:latin typeface="Arial"/>
              </a:defRPr>
            </a:pPr>
            <a:r>
              <a:t>• Research AI studios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700016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3263BE"/>
                </a:solidFill>
                <a:latin typeface="Futura"/>
              </a:defRPr>
            </a:pPr>
            <a:r>
              <a:t>Flexibility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5084064"/>
            <a:ext cx="10332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600"/>
              </a:spcAft>
              <a:defRPr sz="2000">
                <a:solidFill>
                  <a:srgbClr val="181818"/>
                </a:solidFill>
                <a:latin typeface="Arial"/>
              </a:defRPr>
            </a:pPr>
            <a:r>
              <a:t>• Combine internship/study with part-time work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20040" y="73152"/>
            <a:ext cx="292608" cy="237744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73152"/>
            <a:ext cx="292608" cy="237744"/>
          </a:xfrm>
          <a:prstGeom prst="rect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143000" y="73152"/>
            <a:ext cx="292608" cy="237744"/>
          </a:xfrm>
          <a:prstGeom prst="rect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155680" y="54864"/>
            <a:ext cx="91440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400" b="1">
                <a:solidFill>
                  <a:srgbClr val="FAFAF8"/>
                </a:solidFill>
                <a:latin typeface="Futura"/>
              </a:defRPr>
            </a:pPr>
            <a: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85800"/>
            <a:ext cx="1078992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181818"/>
                </a:solidFill>
                <a:latin typeface="Futura"/>
              </a:defRPr>
            </a:pPr>
            <a:r>
              <a:t>Page 8 Conclusion 总结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536192"/>
            <a:ext cx="2926080" cy="82296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914400" y="1828800"/>
            <a:ext cx="10332720" cy="3291840"/>
          </a:xfrm>
          <a:prstGeom prst="rect">
            <a:avLst/>
          </a:prstGeom>
          <a:solidFill>
            <a:srgbClr val="F2F2EE"/>
          </a:solidFill>
          <a:ln>
            <a:solidFill>
              <a:srgbClr val="18181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96926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181818"/>
                </a:solidFill>
                <a:latin typeface="Arial"/>
              </a:defRPr>
            </a:pPr>
            <a:r>
              <a:t>This Extended Study will help me build practical AI design skills, clarify my career path, and gain industry experience that directly supports my future work in China. It is a process of exploration to find my creative direction and professional identity.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440680"/>
            <a:ext cx="2011680" cy="320040"/>
          </a:xfrm>
          <a:prstGeom prst="rect">
            <a:avLst/>
          </a:prstGeom>
          <a:solidFill>
            <a:srgbClr val="DC3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744200" y="5349240"/>
            <a:ext cx="868680" cy="868680"/>
          </a:xfrm>
          <a:prstGeom prst="ellipse">
            <a:avLst/>
          </a:prstGeom>
          <a:solidFill>
            <a:srgbClr val="3263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829800" y="5760720"/>
            <a:ext cx="1143000" cy="274320"/>
          </a:xfrm>
          <a:prstGeom prst="rect">
            <a:avLst/>
          </a:prstGeom>
          <a:solidFill>
            <a:srgbClr val="F5C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