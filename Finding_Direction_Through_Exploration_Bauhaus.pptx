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rts.ac.uk/summer-shows-events/summer-school" TargetMode="External"/><Relationship Id="rId3" Type="http://schemas.openxmlformats.org/officeDocument/2006/relationships/hyperlink" Target="https://www.rca.ac.uk/study/summer-course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84048"/>
            <a:ext cx="2057400" cy="6473952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57400" y="5074920"/>
            <a:ext cx="2788920" cy="1783080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12680" y="713232"/>
            <a:ext cx="1874519" cy="1874519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737360"/>
            <a:ext cx="822960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81818"/>
                </a:solidFill>
                <a:latin typeface="Futura"/>
              </a:defRPr>
            </a:pPr>
            <a:r>
              <a:t>Finding Direction Through Exploration</a:t>
            </a:r>
          </a:p>
          <a:p>
            <a:pPr>
              <a:defRPr sz="2200" b="1">
                <a:solidFill>
                  <a:srgbClr val="3263BE"/>
                </a:solidFill>
                <a:latin typeface="Arial"/>
              </a:defRPr>
            </a:pPr>
            <a:r>
              <a:t>Extended Study Plan (Academic Version)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4297680"/>
            <a:ext cx="795527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81818"/>
                </a:solidFill>
                <a:latin typeface="Arial"/>
              </a:defRPr>
            </a:pPr>
            <a:r>
              <a:t>Name: Tianyi Mao</a:t>
            </a:r>
          </a:p>
          <a:p>
            <a:pPr>
              <a:defRPr sz="1800" b="0">
                <a:solidFill>
                  <a:srgbClr val="181818"/>
                </a:solidFill>
                <a:latin typeface="Arial"/>
              </a:defRPr>
            </a:pPr>
            <a:r>
              <a:t>Programme: MA Design Expanded Practice</a:t>
            </a:r>
          </a:p>
          <a:p>
            <a:pPr>
              <a:defRPr sz="1800" b="0">
                <a:solidFill>
                  <a:srgbClr val="181818"/>
                </a:solidFill>
                <a:latin typeface="Arial"/>
              </a:defRPr>
            </a:pPr>
            <a:r>
              <a:t>Pathway: Communication &amp; Experience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766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181818"/>
                </a:solidFill>
                <a:latin typeface="Futura"/>
              </a:defRPr>
            </a:pPr>
            <a:r>
              <a:t>Page 2 Introduction 引言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17904"/>
            <a:ext cx="301752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0" y="4892040"/>
            <a:ext cx="1188720" cy="118872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469880" y="4251960"/>
            <a:ext cx="1508760" cy="150876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23960" y="5715000"/>
            <a:ext cx="1965960" cy="256032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83080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3263BE"/>
                </a:solidFill>
                <a:latin typeface="Futura"/>
              </a:defRPr>
            </a:pPr>
            <a:r>
              <a:t>Research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112264"/>
            <a:ext cx="10104120" cy="6035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AI-assisted design is reshaping creative workflows and role expectations in communication industries.</a:t>
            </a:r>
          </a:p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This study adopts a practice-led perspective to connect tool competence with professional identity 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88920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3263BE"/>
                </a:solidFill>
                <a:latin typeface="Futura"/>
              </a:defRPr>
            </a:pPr>
            <a:r>
              <a:t>Core Objectives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118103"/>
            <a:ext cx="10104120" cy="877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Develop advanced and critical use of AI tools in creative design practice.</a:t>
            </a:r>
          </a:p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Identify a sustainable professional direction that aligns with my values and strengths.</a:t>
            </a:r>
          </a:p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Gain industry-facing experience in real production contexts.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69079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3263BE"/>
                </a:solidFill>
                <a:latin typeface="Futura"/>
              </a:defRPr>
            </a:pPr>
            <a:r>
              <a:t>Guiding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398264"/>
            <a:ext cx="10104120" cy="6035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How can AI be integrated into end-to-end creative workflow while preserving design authorship?</a:t>
            </a:r>
          </a:p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Which pathway best connects my current skills with long-term opportunities in China?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766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181818"/>
                </a:solidFill>
                <a:latin typeface="Futura"/>
              </a:defRPr>
            </a:pPr>
            <a:r>
              <a:t>Page 3 Past Practice 过往实践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17904"/>
            <a:ext cx="301752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0" y="4892040"/>
            <a:ext cx="1188720" cy="118872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469880" y="4251960"/>
            <a:ext cx="1508760" cy="150876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23960" y="5715000"/>
            <a:ext cx="1965960" cy="256032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47088"/>
            <a:ext cx="5394960" cy="452628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847088"/>
            <a:ext cx="5257800" cy="452628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DC3030"/>
                </a:solidFill>
                <a:latin typeface="Futura"/>
              </a:defRPr>
            </a:pPr>
            <a:r>
              <a:t>Evidence of Current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441448"/>
            <a:ext cx="4937760" cy="3794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Strengths: photography, video editing, AI creative tools, and software proficiency.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Previous MA project: critical video essay on social media culture and affective behaviour.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Research interests: mental health, social media ecologies, and self-discipline.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Target audience: Generation Z and millennial social media users.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Existing networks: social media platforms and photography studio communities.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0116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3263BE"/>
                </a:solidFill>
                <a:latin typeface="Futura"/>
              </a:defRPr>
            </a:pPr>
            <a:r>
              <a:t>Critical Reflection &amp; Boundaries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441448"/>
            <a:ext cx="4800600" cy="3794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Current practice is conceptually strong but needs more industry-grounded implementation evidence.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A key development need is translating critical inquiry into commercially viable outputs.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I intentionally avoid repetitive mechanical commercial production.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I also avoid experimental work that is overly abstract and detached from social use value.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This boundary-setting helps define a balanced, reflective, and employable design direction.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766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181818"/>
                </a:solidFill>
                <a:latin typeface="Futura"/>
              </a:defRPr>
            </a:pPr>
            <a:r>
              <a:t>Page 4 Future Goals 未来目标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17904"/>
            <a:ext cx="301752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0" y="4892040"/>
            <a:ext cx="1188720" cy="118872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469880" y="4251960"/>
            <a:ext cx="1508760" cy="150876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23960" y="5715000"/>
            <a:ext cx="1965960" cy="256032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263BE"/>
                </a:solidFill>
                <a:latin typeface="Futura"/>
              </a:defRPr>
            </a:pPr>
            <a:r>
              <a:t>Long-term Positioning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157984"/>
            <a:ext cx="1010412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Pursue design strategy or AI operation roles in China that bridge creativity, technology, and communication.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569464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263BE"/>
                </a:solidFill>
                <a:latin typeface="Futura"/>
              </a:defRPr>
            </a:pPr>
            <a:r>
              <a:t>Competency Framework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898648"/>
            <a:ext cx="10104120" cy="905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Technical: comprehensive use of multimodal AI tools across ideation, prototyping, and production.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Creative: strengthen photography and video editing as narrative and branding instruments.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Professional: improve project execution, cross-functional collaboration, and client communication.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77056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263BE"/>
                </a:solidFill>
                <a:latin typeface="Futura"/>
              </a:defRPr>
            </a:pPr>
            <a:r>
              <a:t>Expected Outcomes (Measurable)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206240"/>
            <a:ext cx="10104120" cy="905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Complete at least 2 externally-oriented projects for portfolio evidence.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Build an initial professional network across UK and China-related creative industries.</a:t>
            </a:r>
          </a:p>
          <a:p>
            <a:pPr>
              <a:spcAft>
                <a:spcPts val="200"/>
              </a:spcAft>
              <a:defRPr sz="1450">
                <a:solidFill>
                  <a:srgbClr val="181818"/>
                </a:solidFill>
                <a:latin typeface="Arial"/>
              </a:defRPr>
            </a:pPr>
            <a:r>
              <a:t>• Produce a stronger portfolio demonstrating both criticality and implementation capability.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766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181818"/>
                </a:solidFill>
                <a:latin typeface="Futura"/>
              </a:defRPr>
            </a:pPr>
            <a:r>
              <a:t>Page 5 Activity Options 实践选项（含真实夏校链接）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17904"/>
            <a:ext cx="301752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0" y="4892040"/>
            <a:ext cx="1188720" cy="118872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469880" y="4251960"/>
            <a:ext cx="1508760" cy="150876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23960" y="5715000"/>
            <a:ext cx="1965960" cy="256032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10512"/>
            <a:ext cx="7315200" cy="452628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810512"/>
            <a:ext cx="3291840" cy="452628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011680"/>
            <a:ext cx="69494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3030"/>
                </a:solidFill>
                <a:latin typeface="Futura"/>
              </a:defRPr>
            </a:pPr>
            <a:r>
              <a:t>1) Preferred: AI Design Internship (UK)</a:t>
            </a:r>
          </a:p>
          <a:p>
            <a:pPr>
              <a:defRPr sz="1400" b="0">
                <a:solidFill>
                  <a:srgbClr val="181818"/>
                </a:solidFill>
                <a:latin typeface="Arial"/>
              </a:defRPr>
            </a:pPr>
            <a:r>
              <a:t>   Type: Internship in UK design companies applying AI in commercial creative workflows.</a:t>
            </a:r>
          </a:p>
          <a:p>
            <a:pPr>
              <a:defRPr sz="1400" b="0">
                <a:solidFill>
                  <a:srgbClr val="181818"/>
                </a:solidFill>
                <a:latin typeface="Arial"/>
              </a:defRPr>
            </a:pPr>
            <a:r>
              <a:t>   Purpose: Learn efficient AI-supported pipeline in real client-facing projects.</a:t>
            </a:r>
          </a:p>
          <a:p>
            <a:pPr>
              <a:defRPr sz="1400" b="0">
                <a:solidFill>
                  <a:srgbClr val="181818"/>
                </a:solidFill>
                <a:latin typeface="Arial"/>
              </a:defRPr>
            </a:pPr>
            <a:r>
              <a:t>   Rationale: Highest relevance to my planned career pathway in China.</a:t>
            </a:r>
          </a:p>
          <a:p>
            <a:pPr>
              <a:defRPr sz="1800" b="1">
                <a:solidFill>
                  <a:srgbClr val="DC3030"/>
                </a:solidFill>
                <a:latin typeface="Futura"/>
              </a:defRPr>
            </a:pPr>
            <a:r>
              <a:t>2) UAL / RCA Summer School (real links)</a:t>
            </a:r>
          </a:p>
          <a:p>
            <a:r>
              <a:rPr sz="1350">
                <a:solidFill>
                  <a:srgbClr val="3263BE"/>
                </a:solidFill>
                <a:latin typeface="Arial"/>
                <a:hlinkClick r:id="rId2"/>
              </a:rPr>
              <a:t>   UAL Summer School: https://www.arts.ac.uk/summer-shows-events/summer-school</a:t>
            </a:r>
          </a:p>
          <a:p>
            <a:r>
              <a:rPr sz="1350">
                <a:solidFill>
                  <a:srgbClr val="3263BE"/>
                </a:solidFill>
                <a:latin typeface="Arial"/>
                <a:hlinkClick r:id="rId3"/>
              </a:rPr>
              <a:t>   RCA Summer School: https://www.rca.ac.uk/study/summer-courses/</a:t>
            </a:r>
          </a:p>
          <a:p>
            <a:pPr>
              <a:defRPr sz="1700" b="1">
                <a:solidFill>
                  <a:srgbClr val="DC3030"/>
                </a:solidFill>
                <a:latin typeface="Futura"/>
              </a:defRPr>
            </a:pPr>
            <a:r>
              <a:t>3) Alternative: Creative Studio Internship (London)</a:t>
            </a:r>
          </a:p>
          <a:p>
            <a:pPr>
              <a:defRPr sz="1400" b="0">
                <a:solidFill>
                  <a:srgbClr val="181818"/>
                </a:solidFill>
                <a:latin typeface="Arial"/>
              </a:defRPr>
            </a:pPr>
            <a:r>
              <a:t>   Focus: 3D printing / architecture-related studio practice.</a:t>
            </a:r>
          </a:p>
          <a:p>
            <a:pPr>
              <a:defRPr sz="1400" b="0">
                <a:solidFill>
                  <a:srgbClr val="181818"/>
                </a:solidFill>
                <a:latin typeface="Arial"/>
              </a:defRPr>
            </a:pPr>
            <a:r>
              <a:t>   Value: Hands-on making and spatial design experience.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11680"/>
            <a:ext cx="283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263BE"/>
                </a:solidFill>
                <a:latin typeface="Futura"/>
              </a:defRPr>
            </a:pPr>
            <a:r>
              <a:t>Selection Criteria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606040"/>
            <a:ext cx="27889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• Career relevance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• Learning depth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• Industry exposure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• Visa/time feasibility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• Portfolio value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• Network potential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</a:p>
          <a:p>
            <a:pPr>
              <a:defRPr sz="1350" b="1">
                <a:solidFill>
                  <a:srgbClr val="181818"/>
                </a:solidFill>
                <a:latin typeface="Arial"/>
              </a:defRPr>
            </a:pPr>
            <a:r>
              <a:t>Preferred ranking: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1. AI internship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2. Summer school</a:t>
            </a:r>
          </a:p>
          <a:p>
            <a:pPr>
              <a:defRPr sz="1350" b="0">
                <a:solidFill>
                  <a:srgbClr val="181818"/>
                </a:solidFill>
                <a:latin typeface="Arial"/>
              </a:defRPr>
            </a:pPr>
            <a:r>
              <a:t>3. Creative studio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766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181818"/>
                </a:solidFill>
                <a:latin typeface="Futura"/>
              </a:defRPr>
            </a:pPr>
            <a:r>
              <a:t>Page 6 Timeline 时间线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17904"/>
            <a:ext cx="301752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46120"/>
            <a:ext cx="10058400" cy="73152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2926080"/>
            <a:ext cx="685800" cy="685800"/>
          </a:xfrm>
          <a:prstGeom prst="ellipse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12280" y="2926080"/>
            <a:ext cx="685800" cy="68580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46634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DC3030"/>
                </a:solidFill>
                <a:latin typeface="Futura"/>
              </a:defRPr>
            </a:pPr>
            <a:r>
              <a:t>April – June: Preparation Phase</a:t>
            </a:r>
          </a:p>
          <a:p>
            <a:pPr>
              <a:defRPr sz="1350">
                <a:latin typeface="Arial"/>
              </a:defRPr>
            </a:pPr>
            <a:r>
              <a:t>• Complete university coursework and define project focus</a:t>
            </a:r>
          </a:p>
          <a:p>
            <a:pPr>
              <a:defRPr sz="1350">
                <a:latin typeface="Arial"/>
              </a:defRPr>
            </a:pPr>
            <a:r>
              <a:t>• Update CV and portfolio with targeted case studies</a:t>
            </a:r>
          </a:p>
          <a:p>
            <a:pPr>
              <a:defRPr sz="1350">
                <a:latin typeface="Arial"/>
              </a:defRPr>
            </a:pPr>
            <a:r>
              <a:t>• Submit internship/summer-school applications and attend interviews</a:t>
            </a:r>
          </a:p>
          <a:p>
            <a:pPr>
              <a:defRPr sz="1350">
                <a:latin typeface="Arial"/>
              </a:defRPr>
            </a:pPr>
            <a:r>
              <a:t>• Build reflective research log and application tracker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3566160"/>
            <a:ext cx="539496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3263BE"/>
                </a:solidFill>
                <a:latin typeface="Futura"/>
              </a:defRPr>
            </a:pPr>
            <a:r>
              <a:t>July – September: Implementation Phase</a:t>
            </a:r>
          </a:p>
          <a:p>
            <a:pPr>
              <a:defRPr sz="1350">
                <a:latin typeface="Arial"/>
              </a:defRPr>
            </a:pPr>
            <a:r>
              <a:t>• Start internship / summer school and document workflow learning</a:t>
            </a:r>
          </a:p>
          <a:p>
            <a:pPr>
              <a:defRPr sz="1350">
                <a:latin typeface="Arial"/>
              </a:defRPr>
            </a:pPr>
            <a:r>
              <a:t>• Continue part-time photography and editing for applied practice</a:t>
            </a:r>
          </a:p>
          <a:p>
            <a:pPr>
              <a:defRPr sz="1350">
                <a:latin typeface="Arial"/>
              </a:defRPr>
            </a:pPr>
            <a:r>
              <a:t>• Conduct mid-point self-evaluation and final portfolio consolidation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766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181818"/>
                </a:solidFill>
                <a:latin typeface="Futura"/>
              </a:defRPr>
            </a:pPr>
            <a:r>
              <a:t>Page 7 Feasibility &amp; Preparation 可行性与准备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17904"/>
            <a:ext cx="301752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0" y="4892040"/>
            <a:ext cx="1188720" cy="118872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469880" y="4251960"/>
            <a:ext cx="1508760" cy="150876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23960" y="5715000"/>
            <a:ext cx="1965960" cy="256032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83080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3263BE"/>
                </a:solidFill>
                <a:latin typeface="Futura"/>
              </a:defRPr>
            </a:pPr>
            <a:r>
              <a:t>Operational Feasibility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112264"/>
            <a:ext cx="10104120" cy="585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Location: London is feasible within current international student visa conditions.</a:t>
            </a:r>
          </a:p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Resources: portfolio revision plan, application email templates, and AI studio shortlist are prepared.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3263BE"/>
                </a:solidFill>
                <a:latin typeface="Futura"/>
              </a:defRPr>
            </a:pPr>
            <a:r>
              <a:t>Risk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099815"/>
            <a:ext cx="10104120" cy="585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Risk: internship competition and uncertain acceptance timelines.</a:t>
            </a:r>
          </a:p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Mitigation: parallel applications (internship + summer school + studio option) and phased decision points.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58183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3263BE"/>
                </a:solidFill>
                <a:latin typeface="Futura"/>
              </a:defRPr>
            </a:pPr>
            <a:r>
              <a:t>Ethics &amp; Professional Standards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087368"/>
            <a:ext cx="10104120" cy="585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Address AI-related concerns on authorship, bias, and data provenance in project documentation.</a:t>
            </a:r>
          </a:p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Maintain reflective records to evidence critical decision-making, not only technical output.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45736"/>
            <a:ext cx="10424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3263BE"/>
                </a:solidFill>
                <a:latin typeface="Futura"/>
              </a:defRPr>
            </a:pPr>
            <a:r>
              <a:t>Flexibility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507492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81818"/>
                </a:solidFill>
                <a:latin typeface="Arial"/>
              </a:defRPr>
            </a:pPr>
            <a:r>
              <a:t>• Internship/study activities can be combined with part-time creative work to maintain continuity.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766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500" b="1">
                <a:solidFill>
                  <a:srgbClr val="181818"/>
                </a:solidFill>
                <a:latin typeface="Futura"/>
              </a:defRPr>
            </a:pPr>
            <a:r>
              <a:t>Page 8 Conclusion 总结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17904"/>
            <a:ext cx="301752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83080"/>
            <a:ext cx="10424160" cy="452628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148840"/>
            <a:ext cx="9875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81818"/>
                </a:solidFill>
                <a:latin typeface="Arial"/>
              </a:defRPr>
            </a:pPr>
            <a:r>
              <a:t>This Extended Study is framed as a practice-led inquiry into AI-enabled design development.</a:t>
            </a:r>
          </a:p>
          <a:p>
            <a:pPr>
              <a:spcAft>
                <a:spcPts val="1000"/>
              </a:spcAft>
              <a:defRPr sz="1700" b="0">
                <a:solidFill>
                  <a:srgbClr val="181818"/>
                </a:solidFill>
                <a:latin typeface="Arial"/>
              </a:defRPr>
            </a:pPr>
            <a:r>
              <a:t>It links critical reflection with professional experimentation to clarify my creative direction and career identity.</a:t>
            </a:r>
          </a:p>
          <a:p>
            <a:pPr>
              <a:spcAft>
                <a:spcPts val="1000"/>
              </a:spcAft>
              <a:defRPr sz="1700" b="0">
                <a:solidFill>
                  <a:srgbClr val="181818"/>
                </a:solidFill>
                <a:latin typeface="Arial"/>
              </a:defRPr>
            </a:pPr>
            <a:r>
              <a:t>By combining internships, summer programmes, and independent practice, the project will produce measurable outcomes: improved technical fluency, stronger portfolio evidence, and expanded industry networks.</a:t>
            </a:r>
          </a:p>
          <a:p>
            <a:pPr>
              <a:spcAft>
                <a:spcPts val="1000"/>
              </a:spcAft>
              <a:defRPr sz="1700" b="0">
                <a:solidFill>
                  <a:srgbClr val="181818"/>
                </a:solidFill>
                <a:latin typeface="Arial"/>
              </a:defRPr>
            </a:pPr>
            <a:r>
              <a:t>Ultimately, the study supports a transition toward future-facing design or AI operation roles in China with both conceptual depth and practical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486400"/>
            <a:ext cx="2057400" cy="301752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98480" y="5321808"/>
            <a:ext cx="896112" cy="896112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84080" y="5715000"/>
            <a:ext cx="1188720" cy="28346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