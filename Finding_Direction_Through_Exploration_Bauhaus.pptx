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rts.ac.uk/summer-shows-events/summer-school" TargetMode="External"/><Relationship Id="rId3" Type="http://schemas.openxmlformats.org/officeDocument/2006/relationships/hyperlink" Target="https://www.rca.ac.uk/study/summer-courses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84048"/>
            <a:ext cx="2057400" cy="6473952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0" y="5074920"/>
            <a:ext cx="2788920" cy="1783080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12680" y="713232"/>
            <a:ext cx="1874519" cy="1874519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737360"/>
            <a:ext cx="822960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4800" b="1">
                <a:solidFill>
                  <a:srgbClr val="181818"/>
                </a:solidFill>
                <a:latin typeface="Futura"/>
              </a:defRPr>
            </a:pPr>
            <a:r>
              <a:t>Finding Direction Through Exploration</a:t>
            </a:r>
          </a:p>
          <a:p>
            <a:pPr>
              <a:defRPr sz="2200" b="1">
                <a:solidFill>
                  <a:srgbClr val="3263BE"/>
                </a:solidFill>
                <a:latin typeface="Arial"/>
              </a:defRPr>
            </a:pPr>
            <a:r>
              <a:t>Extended Study Plan (Academic Version)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297680"/>
            <a:ext cx="7955279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181818"/>
                </a:solidFill>
                <a:latin typeface="Arial"/>
              </a:defRPr>
            </a:pPr>
            <a:r>
              <a:t>Name: Tianyi Mao</a:t>
            </a:r>
          </a:p>
          <a:p>
            <a:pPr>
              <a:defRPr sz="1800" b="0">
                <a:solidFill>
                  <a:srgbClr val="181818"/>
                </a:solidFill>
                <a:latin typeface="Arial"/>
              </a:defRPr>
            </a:pPr>
            <a:r>
              <a:t>Programme: MA Design Expanded Practice</a:t>
            </a:r>
          </a:p>
          <a:p>
            <a:pPr>
              <a:defRPr sz="1800" b="0">
                <a:solidFill>
                  <a:srgbClr val="181818"/>
                </a:solidFill>
                <a:latin typeface="Arial"/>
              </a:defRPr>
            </a:pPr>
            <a:r>
              <a:t>Pathway: Communication &amp;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"/>
            <a:ext cx="10972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300" b="1">
                <a:solidFill>
                  <a:srgbClr val="181818"/>
                </a:solidFill>
                <a:latin typeface="Futura"/>
              </a:defRPr>
            </a:pPr>
            <a:r>
              <a:t>Page 2: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017520" cy="82296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4892040"/>
            <a:ext cx="1188720" cy="1188720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4251960"/>
            <a:ext cx="1508760" cy="1508760"/>
          </a:xfrm>
          <a:prstGeom prst="ellipse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3960" y="5715000"/>
            <a:ext cx="1965960" cy="256032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3263BE"/>
                </a:solidFill>
                <a:latin typeface="Futura"/>
              </a:defRPr>
            </a:pPr>
            <a:r>
              <a:t>Research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12264"/>
            <a:ext cx="10104120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AI-assisted design is reshaping creative workflows and role expectations in communication industries.</a:t>
            </a:r>
          </a:p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This study uses a practice-led approach to connect technical capability with professional identity.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88920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3263BE"/>
                </a:solidFill>
                <a:latin typeface="Futura"/>
              </a:defRPr>
            </a:pPr>
            <a:r>
              <a:t>Core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118103"/>
            <a:ext cx="1010412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Develop advanced and critical use of AI tools in creative design practice.</a:t>
            </a:r>
          </a:p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Identify a sustainable professional direction aligned with my values and strengths.</a:t>
            </a:r>
          </a:p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Gain industry-facing experience in real production contexts.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79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3263BE"/>
                </a:solidFill>
                <a:latin typeface="Futura"/>
              </a:defRPr>
            </a:pPr>
            <a:r>
              <a:t>Guiding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398264"/>
            <a:ext cx="10104120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How can AI support end-to-end design workflow while preserving authorship and intent?</a:t>
            </a:r>
          </a:p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Which pathway best bridges my current skill set and career opportunities in China?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"/>
            <a:ext cx="10972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300" b="1">
                <a:solidFill>
                  <a:srgbClr val="181818"/>
                </a:solidFill>
                <a:latin typeface="Futura"/>
              </a:defRPr>
            </a:pPr>
            <a:r>
              <a:t>Page 3: Past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017520" cy="82296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4892040"/>
            <a:ext cx="1188720" cy="1188720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4251960"/>
            <a:ext cx="1508760" cy="1508760"/>
          </a:xfrm>
          <a:prstGeom prst="ellipse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3960" y="5715000"/>
            <a:ext cx="1965960" cy="256032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47088"/>
            <a:ext cx="5394960" cy="4526280"/>
          </a:xfrm>
          <a:prstGeom prst="rect">
            <a:avLst/>
          </a:prstGeom>
          <a:solidFill>
            <a:srgbClr val="F2F2EE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47088"/>
            <a:ext cx="5257800" cy="4526280"/>
          </a:xfrm>
          <a:prstGeom prst="rect">
            <a:avLst/>
          </a:prstGeom>
          <a:solidFill>
            <a:srgbClr val="F2F2EE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011680"/>
            <a:ext cx="48463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DC3030"/>
                </a:solidFill>
                <a:latin typeface="Futura"/>
              </a:defRPr>
            </a:pPr>
            <a:r>
              <a:t>Evidence of Current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2441448"/>
            <a:ext cx="493776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Strengths: photography, video editing, AI creative tools, and software proficiency.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Previous MA project: critical video essay on social media culture and affective behavior.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Research interests: mental health, social media ecologies, and self-discipline.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Target audience: Generation Z and millennial social media users.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Existing networks: social media platforms and photography studio communities.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11680"/>
            <a:ext cx="47548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100" b="1">
                <a:solidFill>
                  <a:srgbClr val="3263BE"/>
                </a:solidFill>
                <a:latin typeface="Futura"/>
              </a:defRPr>
            </a:pPr>
            <a:r>
              <a:t>Critical Reflection and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41448"/>
            <a:ext cx="480060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Current practice is conceptually strong but needs more industry-grounded implementation evidence.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A key need is translating critical inquiry into commercially viable design outcomes.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I intentionally avoid repetitive and purely mechanical commercial production.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I also avoid experimental work that is abstract and detached from social use value.</a:t>
            </a:r>
          </a:p>
          <a:p>
            <a:pPr>
              <a:spcAft>
                <a:spcPts val="200"/>
              </a:spcAft>
              <a:defRPr sz="1420">
                <a:solidFill>
                  <a:srgbClr val="181818"/>
                </a:solidFill>
                <a:latin typeface="Arial"/>
              </a:defRPr>
            </a:pPr>
            <a:r>
              <a:t>• These boundaries define a balanced, reflective, and employable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"/>
            <a:ext cx="10972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300" b="1">
                <a:solidFill>
                  <a:srgbClr val="181818"/>
                </a:solidFill>
                <a:latin typeface="Futura"/>
              </a:defRPr>
            </a:pPr>
            <a:r>
              <a:t>Page 4: Future Goals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017520" cy="82296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4892040"/>
            <a:ext cx="1188720" cy="1188720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4251960"/>
            <a:ext cx="1508760" cy="1508760"/>
          </a:xfrm>
          <a:prstGeom prst="ellipse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3960" y="5715000"/>
            <a:ext cx="1965960" cy="256032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3263BE"/>
                </a:solidFill>
                <a:latin typeface="Futura"/>
              </a:defRPr>
            </a:pPr>
            <a:r>
              <a:t>Long-Term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57984"/>
            <a:ext cx="10104120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50">
                <a:solidFill>
                  <a:srgbClr val="181818"/>
                </a:solidFill>
                <a:latin typeface="Arial"/>
              </a:defRPr>
            </a:pPr>
            <a:r>
              <a:t>• Pursue design strategy or AI operation roles in China that connect creativity, technology, and communication.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69464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3263BE"/>
                </a:solidFill>
                <a:latin typeface="Futura"/>
              </a:defRPr>
            </a:pPr>
            <a:r>
              <a:t>Competency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898648"/>
            <a:ext cx="10104120" cy="9052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50">
                <a:solidFill>
                  <a:srgbClr val="181818"/>
                </a:solidFill>
                <a:latin typeface="Arial"/>
              </a:defRPr>
            </a:pPr>
            <a:r>
              <a:t>• Technical: use multimodal AI tools across ideation, prototyping, and production.</a:t>
            </a:r>
          </a:p>
          <a:p>
            <a:pPr>
              <a:spcAft>
                <a:spcPts val="200"/>
              </a:spcAft>
              <a:defRPr sz="1450">
                <a:solidFill>
                  <a:srgbClr val="181818"/>
                </a:solidFill>
                <a:latin typeface="Arial"/>
              </a:defRPr>
            </a:pPr>
            <a:r>
              <a:t>• Creative: strengthen photography and video editing as narrative and branding methods.</a:t>
            </a:r>
          </a:p>
          <a:p>
            <a:pPr>
              <a:spcAft>
                <a:spcPts val="200"/>
              </a:spcAft>
              <a:defRPr sz="1450">
                <a:solidFill>
                  <a:srgbClr val="181818"/>
                </a:solidFill>
                <a:latin typeface="Arial"/>
              </a:defRPr>
            </a:pPr>
            <a:r>
              <a:t>• Professional: improve project execution, collaboration, and client communication.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77056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3263BE"/>
                </a:solidFill>
                <a:latin typeface="Futura"/>
              </a:defRPr>
            </a:pPr>
            <a:r>
              <a:t>Expected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06240"/>
            <a:ext cx="10104120" cy="9052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50">
                <a:solidFill>
                  <a:srgbClr val="181818"/>
                </a:solidFill>
                <a:latin typeface="Arial"/>
              </a:defRPr>
            </a:pPr>
            <a:r>
              <a:t>• Complete at least two externally oriented projects for portfolio evidence.</a:t>
            </a:r>
          </a:p>
          <a:p>
            <a:pPr>
              <a:spcAft>
                <a:spcPts val="200"/>
              </a:spcAft>
              <a:defRPr sz="1450">
                <a:solidFill>
                  <a:srgbClr val="181818"/>
                </a:solidFill>
                <a:latin typeface="Arial"/>
              </a:defRPr>
            </a:pPr>
            <a:r>
              <a:t>• Build an initial professional network across UK and China-related creative sectors.</a:t>
            </a:r>
          </a:p>
          <a:p>
            <a:pPr>
              <a:spcAft>
                <a:spcPts val="200"/>
              </a:spcAft>
              <a:defRPr sz="1450">
                <a:solidFill>
                  <a:srgbClr val="181818"/>
                </a:solidFill>
                <a:latin typeface="Arial"/>
              </a:defRPr>
            </a:pPr>
            <a:r>
              <a:t>• Deliver a portfolio that demonstrates both critical thinking and implementation 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"/>
            <a:ext cx="10972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300" b="1">
                <a:solidFill>
                  <a:srgbClr val="181818"/>
                </a:solidFill>
                <a:latin typeface="Futura"/>
              </a:defRPr>
            </a:pPr>
            <a:r>
              <a:t>Page 5: Activity Options (with verified links)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017520" cy="82296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4892040"/>
            <a:ext cx="1188720" cy="1188720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4251960"/>
            <a:ext cx="1508760" cy="1508760"/>
          </a:xfrm>
          <a:prstGeom prst="ellipse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3960" y="5715000"/>
            <a:ext cx="1965960" cy="256032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10512"/>
            <a:ext cx="7315200" cy="4526280"/>
          </a:xfrm>
          <a:prstGeom prst="rect">
            <a:avLst/>
          </a:prstGeom>
          <a:solidFill>
            <a:srgbClr val="F2F2EE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810512"/>
            <a:ext cx="3291840" cy="4526280"/>
          </a:xfrm>
          <a:prstGeom prst="rect">
            <a:avLst/>
          </a:prstGeom>
          <a:solidFill>
            <a:srgbClr val="F2F2EE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011680"/>
            <a:ext cx="69494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1">
                <a:solidFill>
                  <a:srgbClr val="DC3030"/>
                </a:solidFill>
                <a:latin typeface="Futura"/>
              </a:defRPr>
            </a:pPr>
            <a:r>
              <a:t>1) Preferred: AI Design Internship (UK)</a:t>
            </a:r>
          </a:p>
          <a:p>
            <a:pPr>
              <a:defRPr sz="1360" b="0">
                <a:solidFill>
                  <a:srgbClr val="181818"/>
                </a:solidFill>
                <a:latin typeface="Arial"/>
              </a:defRPr>
            </a:pPr>
            <a:r>
              <a:t>   Type: Internship in UK design companies applying AI in commercial creative workflows.</a:t>
            </a:r>
          </a:p>
          <a:p>
            <a:pPr>
              <a:defRPr sz="1360" b="0">
                <a:solidFill>
                  <a:srgbClr val="181818"/>
                </a:solidFill>
                <a:latin typeface="Arial"/>
              </a:defRPr>
            </a:pPr>
            <a:r>
              <a:t>   Purpose: Learn an efficient AI-supported pipeline in client-facing projects.</a:t>
            </a:r>
          </a:p>
          <a:p>
            <a:pPr>
              <a:defRPr sz="1360" b="0">
                <a:solidFill>
                  <a:srgbClr val="181818"/>
                </a:solidFill>
                <a:latin typeface="Arial"/>
              </a:defRPr>
            </a:pPr>
            <a:r>
              <a:t>   Rationale: highest relevance to my planned career pathway in China.</a:t>
            </a:r>
          </a:p>
          <a:p>
            <a:pPr>
              <a:defRPr sz="1800" b="1">
                <a:solidFill>
                  <a:srgbClr val="DC3030"/>
                </a:solidFill>
                <a:latin typeface="Futura"/>
              </a:defRPr>
            </a:pPr>
            <a:r>
              <a:t>2) UAL / RCA Summer School (verified links)</a:t>
            </a:r>
          </a:p>
          <a:p>
            <a:r>
              <a:rPr sz="1320">
                <a:solidFill>
                  <a:srgbClr val="3263BE"/>
                </a:solidFill>
                <a:latin typeface="Arial"/>
                <a:hlinkClick r:id="rId2"/>
              </a:rPr>
              <a:t>   UAL Summer School: https://www.arts.ac.uk/summer-shows-events/summer-school</a:t>
            </a:r>
          </a:p>
          <a:p>
            <a:r>
              <a:rPr sz="1320">
                <a:solidFill>
                  <a:srgbClr val="3263BE"/>
                </a:solidFill>
                <a:latin typeface="Arial"/>
                <a:hlinkClick r:id="rId3"/>
              </a:rPr>
              <a:t>   RCA Summer School: https://www.rca.ac.uk/study/summer-courses/</a:t>
            </a:r>
          </a:p>
          <a:p>
            <a:pPr>
              <a:defRPr sz="1700" b="1">
                <a:solidFill>
                  <a:srgbClr val="DC3030"/>
                </a:solidFill>
                <a:latin typeface="Futura"/>
              </a:defRPr>
            </a:pPr>
            <a:r>
              <a:t>3) Alternative: Creative Studio Internship (London)</a:t>
            </a:r>
          </a:p>
          <a:p>
            <a:pPr>
              <a:defRPr sz="1360" b="0">
                <a:solidFill>
                  <a:srgbClr val="181818"/>
                </a:solidFill>
                <a:latin typeface="Arial"/>
              </a:defRPr>
            </a:pPr>
            <a:r>
              <a:t>   Focus: 3D printing and architecture-related studio practice.</a:t>
            </a:r>
          </a:p>
          <a:p>
            <a:pPr>
              <a:defRPr sz="1360" b="0">
                <a:solidFill>
                  <a:srgbClr val="181818"/>
                </a:solidFill>
                <a:latin typeface="Arial"/>
              </a:defRPr>
            </a:pPr>
            <a:r>
              <a:t>   Value: hands-on making and spatial design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28346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3263BE"/>
                </a:solidFill>
                <a:latin typeface="Futura"/>
              </a:defRPr>
            </a:pPr>
            <a:r>
              <a:t>Selection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06040"/>
            <a:ext cx="27889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• Career relevance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• Learning depth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• Industry exposure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• Visa and time feasibility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• Portfolio value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• Network potential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</a:p>
          <a:p>
            <a:pPr>
              <a:defRPr sz="1330" b="1">
                <a:solidFill>
                  <a:srgbClr val="181818"/>
                </a:solidFill>
                <a:latin typeface="Arial"/>
              </a:defRPr>
            </a:pPr>
            <a:r>
              <a:t>Preferred ranking: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1. AI internship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2. Summer school</a:t>
            </a:r>
          </a:p>
          <a:p>
            <a:pPr>
              <a:defRPr sz="1330" b="0">
                <a:solidFill>
                  <a:srgbClr val="181818"/>
                </a:solidFill>
                <a:latin typeface="Arial"/>
              </a:defRPr>
            </a:pPr>
            <a:r>
              <a:t>3. Creative 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"/>
            <a:ext cx="10972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300" b="1">
                <a:solidFill>
                  <a:srgbClr val="181818"/>
                </a:solidFill>
                <a:latin typeface="Futura"/>
              </a:defRPr>
            </a:pPr>
            <a:r>
              <a:t>Page 6: 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017520" cy="82296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246120"/>
            <a:ext cx="10058400" cy="7315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57400" y="2926080"/>
            <a:ext cx="685800" cy="685800"/>
          </a:xfrm>
          <a:prstGeom prst="ellipse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12280" y="2926080"/>
            <a:ext cx="685800" cy="685800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466344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DC3030"/>
                </a:solidFill>
                <a:latin typeface="Futura"/>
              </a:defRPr>
            </a:pPr>
            <a:r>
              <a:t>April to June: Preparation Phase</a:t>
            </a:r>
          </a:p>
          <a:p>
            <a:pPr>
              <a:defRPr sz="1340">
                <a:latin typeface="Arial"/>
              </a:defRPr>
            </a:pPr>
            <a:r>
              <a:t>• Complete university coursework and define project focus.</a:t>
            </a:r>
          </a:p>
          <a:p>
            <a:pPr>
              <a:defRPr sz="1340">
                <a:latin typeface="Arial"/>
              </a:defRPr>
            </a:pPr>
            <a:r>
              <a:t>• Update CV and portfolio with targeted case studies.</a:t>
            </a:r>
          </a:p>
          <a:p>
            <a:pPr>
              <a:defRPr sz="1340">
                <a:latin typeface="Arial"/>
              </a:defRPr>
            </a:pPr>
            <a:r>
              <a:t>• Submit applications and attend internship or school interviews.</a:t>
            </a:r>
          </a:p>
          <a:p>
            <a:pPr>
              <a:defRPr sz="1340">
                <a:latin typeface="Arial"/>
              </a:defRPr>
            </a:pPr>
            <a:r>
              <a:t>• Build a reflective research log and application tracker.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566160"/>
            <a:ext cx="539496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3263BE"/>
                </a:solidFill>
                <a:latin typeface="Futura"/>
              </a:defRPr>
            </a:pPr>
            <a:r>
              <a:t>July to September: Implementation Phase</a:t>
            </a:r>
          </a:p>
          <a:p>
            <a:pPr>
              <a:defRPr sz="1340">
                <a:latin typeface="Arial"/>
              </a:defRPr>
            </a:pPr>
            <a:r>
              <a:t>• Start internship or summer school and document workflow learning.</a:t>
            </a:r>
          </a:p>
          <a:p>
            <a:pPr>
              <a:defRPr sz="1340">
                <a:latin typeface="Arial"/>
              </a:defRPr>
            </a:pPr>
            <a:r>
              <a:t>• Continue part-time photography and editing for applied practice.</a:t>
            </a:r>
          </a:p>
          <a:p>
            <a:pPr>
              <a:defRPr sz="1340">
                <a:latin typeface="Arial"/>
              </a:defRPr>
            </a:pPr>
            <a:r>
              <a:t>• Conduct mid-point review and final portfolio consolidation.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"/>
            <a:ext cx="10972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300" b="1">
                <a:solidFill>
                  <a:srgbClr val="181818"/>
                </a:solidFill>
                <a:latin typeface="Futura"/>
              </a:defRPr>
            </a:pPr>
            <a:r>
              <a:t>Page 7: Feasibility and Preparation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017520" cy="82296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4892040"/>
            <a:ext cx="1188720" cy="1188720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69880" y="4251960"/>
            <a:ext cx="1508760" cy="1508760"/>
          </a:xfrm>
          <a:prstGeom prst="ellipse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3960" y="5715000"/>
            <a:ext cx="1965960" cy="256032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83080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3263BE"/>
                </a:solidFill>
                <a:latin typeface="Futura"/>
              </a:defRPr>
            </a:pPr>
            <a:r>
              <a:t>Operational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112264"/>
            <a:ext cx="10104120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Location: London remains feasible under current international student visa conditions.</a:t>
            </a:r>
          </a:p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Resources: portfolio revision plan, application templates, and AI studio shortlist are prepared.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70632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3263BE"/>
                </a:solidFill>
                <a:latin typeface="Futura"/>
              </a:defRPr>
            </a:pPr>
            <a:r>
              <a:t>Risk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099815"/>
            <a:ext cx="10104120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Risk: competition for internships and uncertain acceptance timelines.</a:t>
            </a:r>
          </a:p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Mitigation: parallel applications across internship, summer school, and studio options.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58183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3263BE"/>
                </a:solidFill>
                <a:latin typeface="Futura"/>
              </a:defRPr>
            </a:pPr>
            <a:r>
              <a:t>Ethics and Professional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087368"/>
            <a:ext cx="10104120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Address authorship, bias, and data provenance when using AI-assisted workflows.</a:t>
            </a:r>
          </a:p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Maintain reflective documentation to evidence critical decisions, not only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45736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 b="1">
                <a:solidFill>
                  <a:srgbClr val="3263BE"/>
                </a:solidFill>
                <a:latin typeface="Futura"/>
              </a:defRPr>
            </a:pPr>
            <a:r>
              <a:t>Flexibility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074920"/>
            <a:ext cx="10104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81818"/>
                </a:solidFill>
                <a:latin typeface="Arial"/>
              </a:defRPr>
            </a:pPr>
            <a:r>
              <a:t>• Internship or study activities can be combined with part-time creative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73152"/>
            <a:ext cx="292608" cy="237744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"/>
            <a:ext cx="292608" cy="23774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73152"/>
            <a:ext cx="292608" cy="237744"/>
          </a:xfrm>
          <a:prstGeom prst="rect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54864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400" b="1">
                <a:solidFill>
                  <a:srgbClr val="FAFAF8"/>
                </a:solidFill>
                <a:latin typeface="Futura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76656"/>
            <a:ext cx="10972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300" b="1">
                <a:solidFill>
                  <a:srgbClr val="181818"/>
                </a:solidFill>
                <a:latin typeface="Futura"/>
              </a:defRPr>
            </a:pPr>
            <a:r>
              <a:t>Page 8: 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3017520" cy="82296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10424160" cy="4526280"/>
          </a:xfrm>
          <a:prstGeom prst="rect">
            <a:avLst/>
          </a:prstGeom>
          <a:solidFill>
            <a:srgbClr val="F2F2EE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48840"/>
            <a:ext cx="987552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81818"/>
                </a:solidFill>
                <a:latin typeface="Arial"/>
              </a:defRPr>
            </a:pPr>
            <a:r>
              <a:t>This Extended Study is framed as a practice-led inquiry into AI-enabled design development.</a:t>
            </a:r>
          </a:p>
          <a:p>
            <a:pPr>
              <a:spcAft>
                <a:spcPts val="900"/>
              </a:spcAft>
              <a:defRPr sz="1650" b="0">
                <a:solidFill>
                  <a:srgbClr val="181818"/>
                </a:solidFill>
                <a:latin typeface="Arial"/>
              </a:defRPr>
            </a:pPr>
            <a:r>
              <a:t>It combines critical reflection with professional experimentation to clarify my creative direction and career identity.</a:t>
            </a:r>
          </a:p>
          <a:p>
            <a:pPr>
              <a:spcAft>
                <a:spcPts val="900"/>
              </a:spcAft>
              <a:defRPr sz="1650" b="0">
                <a:solidFill>
                  <a:srgbClr val="181818"/>
                </a:solidFill>
                <a:latin typeface="Arial"/>
              </a:defRPr>
            </a:pPr>
            <a:r>
              <a:t>By integrating internships, summer programmes, and independent practice, the project targets measurable outcomes: stronger technical fluency, improved portfolio evidence, and expanded industry networks.</a:t>
            </a:r>
          </a:p>
          <a:p>
            <a:pPr>
              <a:spcAft>
                <a:spcPts val="900"/>
              </a:spcAft>
              <a:defRPr sz="1650" b="0">
                <a:solidFill>
                  <a:srgbClr val="181818"/>
                </a:solidFill>
                <a:latin typeface="Arial"/>
              </a:defRPr>
            </a:pPr>
            <a:r>
              <a:t>Ultimately, the study supports my transition into future-facing design or AI operation roles in China with both conceptual depth and practical readiness.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86400"/>
            <a:ext cx="2057400" cy="301752"/>
          </a:xfrm>
          <a:prstGeom prst="rect">
            <a:avLst/>
          </a:prstGeom>
          <a:solidFill>
            <a:srgbClr val="D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98480" y="5321808"/>
            <a:ext cx="896112" cy="896112"/>
          </a:xfrm>
          <a:prstGeom prst="ellipse">
            <a:avLst/>
          </a:prstGeom>
          <a:solidFill>
            <a:srgbClr val="32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84080" y="5715000"/>
            <a:ext cx="1188720" cy="283464"/>
          </a:xfrm>
          <a:prstGeom prst="rect">
            <a:avLst/>
          </a:prstGeom>
          <a:solidFill>
            <a:srgbClr val="F5C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